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87_BEC0E2DA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91" r:id="rId7"/>
    <p:sldId id="408" r:id="rId8"/>
    <p:sldId id="411" r:id="rId9"/>
    <p:sldId id="412" r:id="rId10"/>
    <p:sldId id="413" r:id="rId11"/>
    <p:sldId id="414" r:id="rId12"/>
    <p:sldId id="398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4F9AB-8DCF-4200-9639-87ACB710B96A}" v="50" dt="2024-10-09T20:12:33.252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432" autoAdjust="0"/>
  </p:normalViewPr>
  <p:slideViewPr>
    <p:cSldViewPr snapToGrid="0">
      <p:cViewPr varScale="1">
        <p:scale>
          <a:sx n="82" d="100"/>
          <a:sy n="82" d="100"/>
        </p:scale>
        <p:origin x="61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omments/modernComment_187_BEC0E2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DF51BD-E76E-489C-86F4-6B4B7E602D7F}" authorId="{00000000-0000-0000-0000-000000000000}" created="2024-10-09T19:13:16.235">
    <pc:sldMkLst xmlns:pc="http://schemas.microsoft.com/office/powerpoint/2013/main/command">
      <pc:docMk/>
      <pc:sldMk cId="3200312026" sldId="391"/>
    </pc:sldMkLst>
    <p188:txBody>
      <a:bodyPr/>
      <a:lstStyle/>
      <a:p>
        <a:r>
          <a:rPr lang="es-ES"/>
          <a:t>Agregaria leyenda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/>
        </p228:taskDetails>
      </p:ext>
    </p188:extLst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70531801-FE4C-4664-85B7-A6D1500E9220}" type="datetime1">
              <a:rPr lang="es-ES" smtClean="0"/>
              <a:t>09/10/2024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9EB6C11-9A80-426C-AD15-F8F957430FC7}" type="datetime1">
              <a:rPr lang="es-ES" smtClean="0"/>
              <a:t>09/10/2024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224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7563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6891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7_BEC0E2DA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933" y="373223"/>
            <a:ext cx="8920067" cy="2831842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sz="5400" dirty="0"/>
              <a:t>Transformando Datos en Decisiones: </a:t>
            </a:r>
            <a:br>
              <a:rPr lang="es-ES" sz="5400" dirty="0"/>
            </a:br>
            <a:r>
              <a:rPr lang="es-ES" sz="5400" dirty="0"/>
              <a:t>Impulsando el Futuro de </a:t>
            </a:r>
            <a:r>
              <a:rPr lang="es-ES" sz="5400" dirty="0" err="1"/>
              <a:t>IronHack</a:t>
            </a:r>
            <a:r>
              <a:rPr lang="es-ES" sz="5400" dirty="0"/>
              <a:t> </a:t>
            </a:r>
            <a:r>
              <a:rPr lang="es-ES" sz="5400" dirty="0" err="1"/>
              <a:t>Payments</a:t>
            </a:r>
            <a:endParaRPr lang="es-ES" sz="54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5019D83-F85F-572A-3AB7-18C5E41F9EB9}"/>
              </a:ext>
            </a:extLst>
          </p:cNvPr>
          <p:cNvSpPr txBox="1">
            <a:spLocks/>
          </p:cNvSpPr>
          <p:nvPr/>
        </p:nvSpPr>
        <p:spPr>
          <a:xfrm>
            <a:off x="3422778" y="2001416"/>
            <a:ext cx="7932577" cy="120364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endParaRPr lang="es-ES" sz="5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0DBCC19-CB9D-066F-AEAE-79D0621C49AA}"/>
              </a:ext>
            </a:extLst>
          </p:cNvPr>
          <p:cNvSpPr txBox="1">
            <a:spLocks/>
          </p:cNvSpPr>
          <p:nvPr/>
        </p:nvSpPr>
        <p:spPr>
          <a:xfrm>
            <a:off x="7414725" y="5990253"/>
            <a:ext cx="4777275" cy="79154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r>
              <a:rPr lang="es-ES" sz="2800" dirty="0"/>
              <a:t>Grupo 6</a:t>
            </a:r>
          </a:p>
          <a:p>
            <a:r>
              <a:rPr lang="es-ES" sz="2800" dirty="0"/>
              <a:t>Autores: Elena, Fer y Rubén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971" y="3638939"/>
            <a:ext cx="5890417" cy="187342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800" dirty="0"/>
              <a:t>¿Estamos realmente aportando valor a nuestros usuarios?</a:t>
            </a:r>
          </a:p>
        </p:txBody>
      </p:sp>
      <p:pic>
        <p:nvPicPr>
          <p:cNvPr id="1026" name="Picture 2" descr="Emoji emoticon discurso globo pensamiento, emoji, historietas, globo de  habla png | PNGEgg">
            <a:extLst>
              <a:ext uri="{FF2B5EF4-FFF2-40B4-BE49-F238E27FC236}">
                <a16:creationId xmlns:a16="http://schemas.microsoft.com/office/drawing/2014/main" id="{9B873FF2-AAA3-1406-6336-A1F894EC2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23" b="97989" l="5460" r="94253">
                        <a14:foregroundMark x1="31322" y1="10345" x2="11782" y2="20690"/>
                        <a14:foregroundMark x1="11782" y1="20690" x2="11494" y2="20690"/>
                        <a14:foregroundMark x1="21839" y1="15517" x2="33333" y2="6322"/>
                        <a14:foregroundMark x1="33333" y1="6322" x2="44253" y2="4310"/>
                        <a14:foregroundMark x1="46552" y1="4023" x2="61494" y2="5460"/>
                        <a14:foregroundMark x1="61494" y1="5460" x2="66667" y2="16379"/>
                        <a14:foregroundMark x1="92241" y1="31897" x2="94253" y2="45690"/>
                        <a14:foregroundMark x1="11494" y1="29885" x2="5460" y2="47126"/>
                        <a14:foregroundMark x1="5460" y1="47126" x2="5460" y2="47414"/>
                        <a14:foregroundMark x1="16667" y1="86782" x2="25862" y2="97989"/>
                        <a14:foregroundMark x1="41092" y1="26724" x2="27874" y2="19540"/>
                        <a14:foregroundMark x1="26724" y1="31322" x2="41954" y2="22126"/>
                        <a14:foregroundMark x1="41954" y1="22126" x2="42816" y2="28448"/>
                        <a14:foregroundMark x1="37644" y1="22414" x2="19540" y2="21552"/>
                        <a14:foregroundMark x1="19540" y1="21552" x2="39080" y2="16954"/>
                        <a14:foregroundMark x1="39080" y1="16954" x2="24425" y2="22701"/>
                        <a14:foregroundMark x1="70690" y1="25575" x2="48276" y2="178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801" y="4685440"/>
            <a:ext cx="1653849" cy="165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¿Cuál es el grupo que vamos a analizar y cómo lo segmentaremos?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6853045F-638B-FD23-46B2-7965DE4EE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226" y="1783080"/>
            <a:ext cx="8932545" cy="502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28" y="278129"/>
            <a:ext cx="7961811" cy="119262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¿Con qué frecuencia usan el servicio los usuarios?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343C48F-648E-D8C0-67D6-A07950FEB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28" y="1735756"/>
            <a:ext cx="10280117" cy="48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68" y="353509"/>
            <a:ext cx="10873740" cy="13258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¿Cuál es la tasa de incidentes de los usuarios?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673D7C42-72A3-7971-16EE-2991B1C69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963" y="1418388"/>
            <a:ext cx="8276253" cy="495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28" y="278129"/>
            <a:ext cx="7961811" cy="119262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¿Cuáles son los ingresos generados?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343C48F-648E-D8C0-67D6-A07950FEB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28" y="1750346"/>
            <a:ext cx="10280117" cy="4814934"/>
          </a:xfrm>
          <a:prstGeom prst="rect">
            <a:avLst/>
          </a:prstGeom>
        </p:spPr>
      </p:pic>
      <p:pic>
        <p:nvPicPr>
          <p:cNvPr id="2050" name="Picture 2" descr="🤑 Cara Con Lengua De Dinero Emoji">
            <a:extLst>
              <a:ext uri="{FF2B5EF4-FFF2-40B4-BE49-F238E27FC236}">
                <a16:creationId xmlns:a16="http://schemas.microsoft.com/office/drawing/2014/main" id="{52C7758D-BB90-022C-FFD0-B9E9E205D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101" y="575012"/>
            <a:ext cx="895739" cy="89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38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68" y="354563"/>
            <a:ext cx="10873740" cy="132482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¿Cuál es el tiempo promedio de reembolso del préstamo?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673D7C42-72A3-7971-16EE-2991B1C69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1675" y="1813833"/>
            <a:ext cx="8098433" cy="504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53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236225"/>
            <a:ext cx="5899746" cy="159350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¿Qué concluimos después de mirar todos estos datos?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422895" cy="4082240"/>
          </a:xfrm>
        </p:spPr>
        <p:txBody>
          <a:bodyPr tIns="457200"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000" dirty="0">
                <a:solidFill>
                  <a:schemeClr val="bg1"/>
                </a:solidFill>
              </a:rPr>
              <a:t>¿Cómo podemos utilizar estos datos para mejorar la retención de usuarios?</a:t>
            </a:r>
          </a:p>
          <a:p>
            <a:pPr rtl="0"/>
            <a:r>
              <a:rPr lang="es-ES" sz="2000" dirty="0">
                <a:solidFill>
                  <a:schemeClr val="bg1"/>
                </a:solidFill>
              </a:rPr>
              <a:t>¿Qué estrategias se pueden implementar para reducir la tasa de incidentes observada? </a:t>
            </a:r>
          </a:p>
          <a:p>
            <a:pPr rtl="0"/>
            <a:r>
              <a:rPr lang="es-ES" sz="2000" dirty="0">
                <a:solidFill>
                  <a:schemeClr val="bg1"/>
                </a:solidFill>
              </a:rPr>
              <a:t>¿Cómo afectarán las tendencias de ingresos a las decisiones de inversión de </a:t>
            </a:r>
            <a:r>
              <a:rPr lang="es-ES" sz="2000" dirty="0" err="1">
                <a:solidFill>
                  <a:schemeClr val="bg1"/>
                </a:solidFill>
              </a:rPr>
              <a:t>IronHack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Payments</a:t>
            </a:r>
            <a:r>
              <a:rPr lang="es-ES" sz="2000" dirty="0">
                <a:solidFill>
                  <a:schemeClr val="bg1"/>
                </a:solidFill>
              </a:rPr>
              <a:t>?</a:t>
            </a:r>
          </a:p>
          <a:p>
            <a:pPr rtl="0"/>
            <a:r>
              <a:rPr lang="es-ES" sz="2000" dirty="0">
                <a:solidFill>
                  <a:schemeClr val="bg1"/>
                </a:solidFill>
              </a:rPr>
              <a:t>¿Qué medidas se pueden tomar para optimizar el tiempo de reembolso de los préstamos?</a:t>
            </a:r>
          </a:p>
        </p:txBody>
      </p:sp>
      <p:pic>
        <p:nvPicPr>
          <p:cNvPr id="3074" name="Picture 2" descr="Máximos Twittóricos: El meme de Elon Musk para ridiculizar los 1.000  dólares de Tesla | Capital Radio">
            <a:extLst>
              <a:ext uri="{FF2B5EF4-FFF2-40B4-BE49-F238E27FC236}">
                <a16:creationId xmlns:a16="http://schemas.microsoft.com/office/drawing/2014/main" id="{6DD9811B-725C-4336-D7BB-F95E5FD0B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75" y="4136231"/>
            <a:ext cx="4328652" cy="2153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983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0FE134-9032-4C7F-BC57-C7DE3F833363}">
  <ds:schemaRefs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sharepoint/v3"/>
    <ds:schemaRef ds:uri="71af3243-3dd4-4a8d-8c0d-dd76da1f02a5"/>
    <ds:schemaRef ds:uri="230e9df3-be65-4c73-a93b-d1236ebd677e"/>
    <ds:schemaRef ds:uri="http://purl.org/dc/terms/"/>
    <ds:schemaRef ds:uri="http://schemas.microsoft.com/office/infopath/2007/PartnerControls"/>
    <ds:schemaRef ds:uri="16c05727-aa75-4e4a-9b5f-8a80a1165891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162</Words>
  <Application>Microsoft Office PowerPoint</Application>
  <PresentationFormat>Panorámica</PresentationFormat>
  <Paragraphs>24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Franklin Gothic Book</vt:lpstr>
      <vt:lpstr>Franklin Gothic Demi</vt:lpstr>
      <vt:lpstr>Personalizar</vt:lpstr>
      <vt:lpstr>Transformando Datos en Decisiones:  Impulsando el Futuro de IronHack Payments</vt:lpstr>
      <vt:lpstr>¿Estamos realmente aportando valor a nuestros usuarios?</vt:lpstr>
      <vt:lpstr>¿Cuál es el grupo que vamos a analizar y cómo lo segmentaremos?</vt:lpstr>
      <vt:lpstr>¿Con qué frecuencia usan el servicio los usuarios?</vt:lpstr>
      <vt:lpstr>¿Cuál es la tasa de incidentes de los usuarios?</vt:lpstr>
      <vt:lpstr>¿Cuáles son los ingresos generados?</vt:lpstr>
      <vt:lpstr>¿Cuál es el tiempo promedio de reembolso del préstamo?</vt:lpstr>
      <vt:lpstr>¿Qué concluimos después de mirar todos estos datos?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2024-10-09T20:12:34Z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